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21F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21F3B"/>
                </a:solidFill>
                <a:latin typeface="Arial"/>
              </a:rPr>
              <a:t>Monthly Average AQI in India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AQI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2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231.67</c:v>
                </c:pt>
                <c:pt idx="1">
                  <c:v>202.91</c:v>
                </c:pt>
                <c:pt idx="2">
                  <c:v>164.74</c:v>
                </c:pt>
                <c:pt idx="3">
                  <c:v>143.36</c:v>
                </c:pt>
                <c:pt idx="4">
                  <c:v>135.49</c:v>
                </c:pt>
                <c:pt idx="5">
                  <c:v>120.2</c:v>
                </c:pt>
                <c:pt idx="6">
                  <c:v>111.85</c:v>
                </c:pt>
                <c:pt idx="7">
                  <c:v>113.61</c:v>
                </c:pt>
                <c:pt idx="8">
                  <c:v>115.19</c:v>
                </c:pt>
                <c:pt idx="9">
                  <c:v>188.61</c:v>
                </c:pt>
                <c:pt idx="10">
                  <c:v>241.68</c:v>
                </c:pt>
                <c:pt idx="11">
                  <c:v>227.08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2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21F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21F3B"/>
                </a:solidFill>
                <a:latin typeface="Arial"/>
              </a:rPr>
              <a:t>Average AQI Comparison Across Cities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AQI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2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Delhi</c:v>
                  </c:pt>
                  <c:pt idx="1">
                    <c:v>Lucknow</c:v>
                  </c:pt>
                  <c:pt idx="2">
                    <c:v>Patna</c:v>
                  </c:pt>
                  <c:pt idx="3">
                    <c:v>Gurugram</c:v>
                  </c:pt>
                  <c:pt idx="4">
                    <c:v>Kolkata</c:v>
                  </c:pt>
                  <c:pt idx="5">
                    <c:v>Hyderabad</c:v>
                  </c:pt>
                  <c:pt idx="6">
                    <c:v>Chennai</c:v>
                  </c:pt>
                  <c:pt idx="7">
                    <c:v>Bengaluru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256</c:v>
                </c:pt>
                <c:pt idx="1">
                  <c:v>216</c:v>
                </c:pt>
                <c:pt idx="2">
                  <c:v>195</c:v>
                </c:pt>
                <c:pt idx="3">
                  <c:v>190</c:v>
                </c:pt>
                <c:pt idx="4">
                  <c:v>175</c:v>
                </c:pt>
                <c:pt idx="5">
                  <c:v>110</c:v>
                </c:pt>
                <c:pt idx="6">
                  <c:v>113</c:v>
                </c:pt>
                <c:pt idx="7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2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21F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21F3B"/>
                </a:solidFill>
                <a:latin typeface="Arial"/>
              </a:rPr>
              <a:t>Cities with Highest AQI Variability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Std Dev of AQI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2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Ahmedabad</c:v>
                  </c:pt>
                  <c:pt idx="1">
                    <c:v>Patna</c:v>
                  </c:pt>
                  <c:pt idx="2">
                    <c:v>Gurugram</c:v>
                  </c:pt>
                  <c:pt idx="3">
                    <c:v>Delhi</c:v>
                  </c:pt>
                  <c:pt idx="4">
                    <c:v>Lucknow</c:v>
                  </c:pt>
                  <c:pt idx="5">
                    <c:v>Guwahati</c:v>
                  </c:pt>
                  <c:pt idx="6">
                    <c:v>Taicher</c:v>
                  </c:pt>
                  <c:pt idx="7">
                    <c:v>Kolkata</c:v>
                  </c:pt>
                  <c:pt idx="8">
                    <c:v>Jorapokhar</c:v>
                  </c:pt>
                  <c:pt idx="9">
                    <c:v>Amritsar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312</c:v>
                </c:pt>
                <c:pt idx="1">
                  <c:v>124</c:v>
                </c:pt>
                <c:pt idx="2">
                  <c:v>120</c:v>
                </c:pt>
                <c:pt idx="3">
                  <c:v>118</c:v>
                </c:pt>
                <c:pt idx="4">
                  <c:v>117</c:v>
                </c:pt>
                <c:pt idx="5">
                  <c:v>113</c:v>
                </c:pt>
                <c:pt idx="6">
                  <c:v>105</c:v>
                </c:pt>
                <c:pt idx="7">
                  <c:v>104</c:v>
                </c:pt>
                <c:pt idx="8">
                  <c:v>84</c:v>
                </c:pt>
                <c:pt idx="9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2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21F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21F3B"/>
                </a:solidFill>
                <a:latin typeface="Arial"/>
              </a:rPr>
              <a:t>Seasonal AQI Variation in India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AQI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2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Monsoon
(Jun–Sep)</c:v>
                  </c:pt>
                  <c:pt idx="1">
                    <c:v>Summer
(Mar–May)</c:v>
                  </c:pt>
                  <c:pt idx="2">
                    <c:v>Post-Monsoon
(Oct–Nov)</c:v>
                  </c:pt>
                  <c:pt idx="3">
                    <c:v>Winter
(Dec–Feb)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115.56</c:v>
                </c:pt>
                <c:pt idx="1">
                  <c:v>147.67</c:v>
                </c:pt>
                <c:pt idx="2">
                  <c:v>215.47</c:v>
                </c:pt>
                <c:pt idx="3">
                  <c:v>220.61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2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914400"/>
            <a:ext cx="2926080" cy="347472"/>
          </a:xfrm>
          <a:prstGeom prst="rect">
            <a:avLst>
              <a:gd name="adj" fmla="val 1315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914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PYTHON FOR DATA SCIENCE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Index (AQI)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in India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1097280" y="3017520"/>
            <a:ext cx="50292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A7C4"/>
                </a:solidFill>
              </a:rPr>
              <a:t>Statistical &amp; Environmental Analysis using Python | city_day.csv Dataset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6868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24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29,531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617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A7C4"/>
                </a:solidFill>
              </a:rPr>
              <a:t>Records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4224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26 Cities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08960" y="4617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A7C4"/>
                </a:solidFill>
              </a:rPr>
              <a:t>Covered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4224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5 Modules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4617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A7C4"/>
                </a:solidFill>
              </a:rPr>
              <a:t>Analysis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4224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2015–2020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0" y="4617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A7C4"/>
                </a:solidFill>
              </a:rPr>
              <a:t>Time Period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AQI &amp; Why It Matters?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AQI 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21F3B"/>
                </a:solidFill>
              </a:rPr>
              <a:t>The Air Quality Index (AQI) is a standardized indicator that communicates how clean or polluted the air is and what associated health effects might be a concern.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1F3B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1F3B"/>
                </a:solidFill>
              </a:rPr>
              <a:t>It transforms complex pollutant data into a single number on a scale of 0–500.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1F3B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Higher AQI = More harmful air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41148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88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AQI CATEGORIES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719072"/>
            <a:ext cx="77724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71907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0–50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0" y="17190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F3B"/>
                </a:solidFill>
              </a:rPr>
              <a:t>Good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203704"/>
            <a:ext cx="777240" cy="347472"/>
          </a:xfrm>
          <a:prstGeom prst="rect">
            <a:avLst/>
          </a:prstGeom>
          <a:solidFill>
            <a:srgbClr val="82E0AA"/>
          </a:solidFill>
          <a:ln w="12700">
            <a:solidFill>
              <a:srgbClr val="82E0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20370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51–100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0" y="22037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F3B"/>
                </a:solidFill>
              </a:rPr>
              <a:t>Satisfactory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688336"/>
            <a:ext cx="77724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6883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101–200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0" y="26883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F3B"/>
                </a:solidFill>
              </a:rPr>
              <a:t>Moderate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172968"/>
            <a:ext cx="7772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7296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201–300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0" y="31729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F3B"/>
                </a:solidFill>
              </a:rPr>
              <a:t>Poor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3657600"/>
            <a:ext cx="77724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65760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301–400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0" y="3657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F3B"/>
                </a:solidFill>
              </a:rPr>
              <a:t>Very Poor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4142232"/>
            <a:ext cx="777240" cy="34747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14223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401–500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0" y="41422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1F3B"/>
                </a:solidFill>
              </a:rPr>
              <a:t>Severe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India follows CPCB (Central Pollution Control Board) AQI standards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6596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29,531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1143000"/>
            <a:ext cx="196596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Features /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143000"/>
            <a:ext cx="1965960" cy="13716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26+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Indian Cities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1143000"/>
            <a:ext cx="1965960" cy="13716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2015–2020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Date Range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8595360" cy="36576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974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KEY FEATURES IN THE DATASET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0896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</a:rPr>
                        <a:t>City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1F3B"/>
                          </a:solidFill>
                        </a:rPr>
                        <a:t>Name of the Indian city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D3C98"/>
                          </a:solidFill>
                        </a:rPr>
                        <a:t>object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</a:rPr>
                        <a:t>Date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1F3B"/>
                          </a:solidFill>
                        </a:rPr>
                        <a:t>Date of measurement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D3C98"/>
                          </a:solidFill>
                        </a:rPr>
                        <a:t>datetime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</a:rPr>
                        <a:t>PM2.5 / PM10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1F3B"/>
                          </a:solidFill>
                        </a:rPr>
                        <a:t>Particulate matter (fine &amp; coarse)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D3C98"/>
                          </a:solidFill>
                        </a:rPr>
                        <a:t>float64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</a:rPr>
                        <a:t>NO, NO2, NOx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1F3B"/>
                          </a:solidFill>
                        </a:rPr>
                        <a:t>Nitrogen oxides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D3C98"/>
                          </a:solidFill>
                        </a:rPr>
                        <a:t>float64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</a:rPr>
                        <a:t>CO, SO2, O3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1F3B"/>
                          </a:solidFill>
                        </a:rPr>
                        <a:t>Carbon monoxide, Sulphur dioxide, Ozone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D3C98"/>
                          </a:solidFill>
                        </a:rPr>
                        <a:t>float64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</a:rPr>
                        <a:t>NH3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1F3B"/>
                          </a:solidFill>
                        </a:rPr>
                        <a:t>Ammonia concentration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D3C98"/>
                          </a:solidFill>
                        </a:rPr>
                        <a:t>float64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</a:rPr>
                        <a:t>Benzene, Toluene, Xylene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1F3B"/>
                          </a:solidFill>
                        </a:rPr>
                        <a:t>Volatile organic compounds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D3C98"/>
                          </a:solidFill>
                        </a:rPr>
                        <a:t>float64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</a:rPr>
                        <a:t>AQI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1F3B"/>
                          </a:solidFill>
                        </a:rPr>
                        <a:t>Air Quality Index (target variable)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D3C98"/>
                          </a:solidFill>
                        </a:rPr>
                        <a:t>float64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</a:rPr>
                        <a:t>AQI_Bucket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21F3B"/>
                          </a:solidFill>
                        </a:rPr>
                        <a:t>AQI category (Good → Severe)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7D3C98"/>
                          </a:solidFill>
                        </a:rPr>
                        <a:t>object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Cleaning &amp; 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59436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161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Null Value Check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21F3B"/>
                </a:solidFill>
              </a:rPr>
              <a:t>df.isnull().sum() — Identified missing values across 13 pollutant columns (PM2.5 had 4,598 nulls; Xylene had 18,109 nulls).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77440"/>
            <a:ext cx="59436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7744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4505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Drop Rows (AQI null)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432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21F3B"/>
                </a:solidFill>
              </a:rPr>
              <a:t>df.dropna(subset=['AQI']) — Removed rows where the target variable AQI was missing. Final clean shape: (24,850, 18).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59436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1188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6850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Fill Remaining Nulls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9776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21F3B"/>
                </a:solidFill>
              </a:rPr>
              <a:t>df.fillna(df.mean(numeric_only=True), inplace=True) — Imputed remaining nulls with column-wise mean to preserve distribution.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43000"/>
            <a:ext cx="59436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4300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12161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Date Parsing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15087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21F3B"/>
                </a:solidFill>
              </a:rPr>
              <a:t>pd.to_datetime(df['Date']) — Converted Date string to datetime. Extracted Month and Year as new columns.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77440"/>
            <a:ext cx="59436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377440"/>
            <a:ext cx="594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24505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Season Feature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27432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21F3B"/>
                </a:solidFill>
              </a:rPr>
              <a:t>Created a Season column with 4 labels: Winter (Dec–Feb), Summer (Mar–May), Monsoon (Jun–Sep), Post-Monsoon (Oct–Nov).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3931920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703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F3B"/>
                </a:solidFill>
              </a:rPr>
              <a:t>Clean Dataset Result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409651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1F3B"/>
                </a:solidFill>
              </a:rPr>
              <a:t>Shape: (24,850 rows × 18 columns)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21F3B"/>
                </a:solidFill>
              </a:rPr>
              <a:t>New Features: Month, Year, Season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Module 1 — Monthly AQI Trend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14300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1143000"/>
            <a:ext cx="73152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0" y="1216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Winter Peak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2200" y="15270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F3B"/>
                </a:solidFill>
              </a:rPr>
              <a:t>November hits AQI 242 — the worst month. Crop burning + cold inversions trap pollutants.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237744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0" y="2377440"/>
            <a:ext cx="73152" cy="10972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</a:rPr>
              <a:t>Monsoon Low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72200" y="276148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F3B"/>
                </a:solidFill>
              </a:rPr>
              <a:t>July records AQI 112 — rains wash pollutants. Wet deposition cleans the atmosphere.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361188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3611880"/>
            <a:ext cx="73152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3685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U-Shape Pattern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72200" y="39959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F3B"/>
                </a:solidFill>
              </a:rPr>
              <a:t>AQI falls Jan→Jul, rises Oct→Nov. Clear seasonal cyclicality tied to weather.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Module 1 — City-wise AQI Comparison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143000"/>
            <a:ext cx="2971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143000"/>
            <a:ext cx="50292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114300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#1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46520" y="1216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F3B"/>
                </a:solidFill>
              </a:rPr>
              <a:t>Delhi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46520" y="1581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AQI ~256 · Very Poor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148840"/>
            <a:ext cx="2971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148840"/>
            <a:ext cx="502920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21488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#2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46520" y="22219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F3B"/>
                </a:solidFill>
              </a:rPr>
              <a:t>Lucknow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46520" y="2587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AQI ~216 · Poor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154680"/>
            <a:ext cx="2971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154680"/>
            <a:ext cx="50292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31546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#3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46520" y="3227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F3B"/>
                </a:solidFill>
              </a:rPr>
              <a:t>Patna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46520" y="35935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AQI ~195 · Poor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52160" y="4160520"/>
            <a:ext cx="2971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52160" y="4160520"/>
            <a:ext cx="502920" cy="8686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41605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#↓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46520" y="42336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F3B"/>
                </a:solidFill>
              </a:rPr>
              <a:t>Bengaluru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46520" y="4599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AQI ~95 · Satisfactory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</a:rPr>
              <a:t>ANOVA test confirmed: AQI differences across cities are statistically significant (F = 1519.3, p &lt; 0.05)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2 — AQI Variability Study (Std. Deviation)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7432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WHY HIGH VARIABILITY?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26480" y="1627632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16824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Industrial Emissions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63640" y="197510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F3B"/>
                </a:solidFill>
              </a:rPr>
              <a:t>Cities near industrial zones see sudden pollution spikes.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26480" y="2478024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6364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Weather Influence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640" y="28254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F3B"/>
                </a:solidFill>
              </a:rPr>
              <a:t>Seasonal rain, wind and temperature drive AQI swings.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3328416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Construction Activity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63640" y="36758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F3B"/>
                </a:solidFill>
              </a:rPr>
              <a:t>Dust from construction temporarily raises PM levels.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26480" y="417880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63640" y="4233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Traffic Variation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63640" y="45262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F3B"/>
                </a:solidFill>
              </a:rPr>
              <a:t>Rush-hour vs. off-peak creates daily AQI fluctuations.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⚠  Ahmedabad shows an exceptionally high std dev of ~312, suggesting extreme pollution events.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Module 3 — Hypothesis Testing (ANOVA)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960120"/>
          </a:xfrm>
          <a:prstGeom prst="rect">
            <a:avLst/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H₀  NULL HYPOTHESIS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F3B"/>
                </a:solidFill>
              </a:rPr>
              <a:t>Mean AQI is the same across all cities.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1F3B"/>
                </a:solidFill>
              </a:rPr>
              <a:t>No significant difference in air quality between cities.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31920" cy="960120"/>
          </a:xfrm>
          <a:prstGeom prst="rect">
            <a:avLst/>
          </a:prstGeom>
          <a:solidFill>
            <a:srgbClr val="EAF2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H₁  ALTERNATE HYPOTHESIS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F3B"/>
                </a:solidFill>
              </a:rPr>
              <a:t>Mean AQI differs significantly across cities.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1F3B"/>
                </a:solidFill>
              </a:rPr>
              <a:t>Geographic &amp; industrial factors drive city-level differences.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ONE-WAY ANOVA TEST RESULTS  (scipy.stats.f_oneway)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8892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F-Statistic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78892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1519.30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278892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1F3B"/>
                </a:solidFill>
              </a:rPr>
              <a:t>Extremely high — between-group variance far exceeds within-group variance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502152"/>
            <a:ext cx="8412480" cy="621792"/>
          </a:xfrm>
          <a:prstGeom prst="rect">
            <a:avLst/>
          </a:prstGeom>
          <a:solidFill>
            <a:srgbClr val="EBF5FB"/>
          </a:solidFill>
          <a:ln w="12700">
            <a:solidFill>
              <a:srgbClr val="DAE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0215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P-Value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77440" y="3502152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0.0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0" y="350215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1F3B"/>
                </a:solidFill>
              </a:rPr>
              <a:t>Virtually zero — well below the 0.05 significance threshold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215384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1538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Decision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4215384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REJECT H₀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0" y="421538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1F3B"/>
                </a:solidFill>
              </a:rPr>
              <a:t>AQI levels differ significantly between Indian cities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Module 4 — Seasonal AQI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143000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143000"/>
            <a:ext cx="548640" cy="8046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114300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❄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73952" y="11978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Winter  (220.6)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73952" y="14904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F3B"/>
                </a:solidFill>
              </a:rPr>
              <a:t>Temperature inversions, crop stubble burning, less wind — pollutants accumulate.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52160" y="2057400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057400"/>
            <a:ext cx="54864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205740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73952" y="21122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Post-Monsoon  (215.5)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73952" y="24048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F3B"/>
                </a:solidFill>
              </a:rPr>
              <a:t>Dry conditions return, industrial activity picks up, festival firecrackers.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52160" y="2971800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2971800"/>
            <a:ext cx="548640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0" y="297180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☀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73952" y="30266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Summer  (147.7)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73952" y="33192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F3B"/>
                </a:solidFill>
              </a:rPr>
              <a:t>Dust storms raise PM. Hot air, but better vertical mixing disperses some pollutants.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3886200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52160" y="3886200"/>
            <a:ext cx="548640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388620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🌧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473952" y="39410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Monsoon  (115.6)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73952" y="42336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F3B"/>
                </a:solidFill>
              </a:rPr>
              <a:t>Rainfall washes aerosols from air. Wet deposition lowers all pollutant levels.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65760" y="4297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</a:rPr>
              <a:t>Key insight: Monsoon season provides the only period of consistently 'Moderate' AQI across India.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F3B"/>
          </a:solidFill>
          <a:ln w="12700">
            <a:solidFill>
              <a:srgbClr val="02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5 — Pollutant Correlation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Correlation with AQI (from heatmap analysis)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81328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Pollutant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Correlation with AQI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CO (Carbon Monoxide)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</a:rPr>
                        <a:t>0.68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Strong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PM2.5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</a:rPr>
                        <a:t>0.65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Strong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NO2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</a:rPr>
                        <a:t>0.54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SO2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</a:rPr>
                        <a:t>0.48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NOx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</a:rPr>
                        <a:t>0.47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PM10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</a:rPr>
                        <a:t>0.50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</a:rPr>
                        <a:t>0.45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21F3B"/>
                          </a:solidFill>
                        </a:rPr>
                        <a:t>O3 (Ozone)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</a:rPr>
                        <a:t>0.19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Weak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097280"/>
            <a:ext cx="32461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97280"/>
            <a:ext cx="32461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0972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1F3B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1600200"/>
            <a:ext cx="6400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6184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 is the top predictor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06440" y="191109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F3B"/>
                </a:solidFill>
              </a:rPr>
              <a:t>Carbon monoxide (r=0.68) shows the strongest linear relationship with AQI, suggesting combustion is the primary driver.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2450592"/>
            <a:ext cx="6400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2468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PM2.5 nearly as critical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06440" y="27614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F3B"/>
                </a:solidFill>
              </a:rPr>
              <a:t>Fine particulate matter (r=0.65) is the second-most correlated pollutant — closely tied to respiratory health risks.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300984"/>
            <a:ext cx="6400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33192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O3 shows weak link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0644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F3B"/>
                </a:solidFill>
              </a:rPr>
              <a:t>Ozone's low correlation (r=0.19) suggests it behaves differently — formed photochemically and not always the primary pollutant.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0" y="4151376"/>
            <a:ext cx="6400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41696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NO &amp; NOx correlated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06440" y="44622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F3B"/>
                </a:solidFill>
              </a:rPr>
              <a:t>NO and NOx (r=0.79) are strongly correlated with each other — both from vehicle exhaust &amp; combustion sources.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029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572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F3B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1051560"/>
            <a:ext cx="7772400" cy="594360"/>
          </a:xfrm>
          <a:prstGeom prst="rect">
            <a:avLst/>
          </a:prstGeom>
          <a:solidFill>
            <a:srgbClr val="0D2D47"/>
          </a:solidFill>
          <a:ln w="12700">
            <a:solidFill>
              <a:srgbClr val="0D2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5156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India's air quality follows a strong seasonal pattern — worst in Winter (AQI ~221) and best in Monsoon (AQI ~116).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572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F3B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0120" y="1828800"/>
            <a:ext cx="7772400" cy="594360"/>
          </a:xfrm>
          <a:prstGeom prst="rect">
            <a:avLst/>
          </a:prstGeom>
          <a:solidFill>
            <a:srgbClr val="0D2D47"/>
          </a:solidFill>
          <a:ln w="12700">
            <a:solidFill>
              <a:srgbClr val="0D2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8288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Delhi and Lucknow are consistently the most polluted cities; Bengaluru and Chennai are comparatively cleaner.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572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06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F3B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2606040"/>
            <a:ext cx="7772400" cy="594360"/>
          </a:xfrm>
          <a:prstGeom prst="rect">
            <a:avLst/>
          </a:prstGeom>
          <a:solidFill>
            <a:srgbClr val="0D2D47"/>
          </a:solidFill>
          <a:ln w="12700">
            <a:solidFill>
              <a:srgbClr val="0D2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6060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ANOVA test confirmed that AQI differences between cities are highly statistically significant (F=1519.3, p≈0).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4572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832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F3B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0120" y="3383280"/>
            <a:ext cx="7772400" cy="594360"/>
          </a:xfrm>
          <a:prstGeom prst="rect">
            <a:avLst/>
          </a:prstGeom>
          <a:solidFill>
            <a:srgbClr val="0D2D47"/>
          </a:solidFill>
          <a:ln w="12700">
            <a:solidFill>
              <a:srgbClr val="0D2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3832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 and PM2.5 are the strongest predictors of AQI, pointing to combustion and vehicular emissions as primary causes.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4572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605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1F3B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0120" y="4160520"/>
            <a:ext cx="7772400" cy="594360"/>
          </a:xfrm>
          <a:prstGeom prst="rect">
            <a:avLst/>
          </a:prstGeom>
          <a:solidFill>
            <a:srgbClr val="0D2D47"/>
          </a:solidFill>
          <a:ln w="12700">
            <a:solidFill>
              <a:srgbClr val="0D2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16052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Ahmedabad exhibits extreme AQI variability (std ≈ 312), suggesting episodic industrial or seasonal pollution events.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0916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A7C4"/>
                </a:solidFill>
              </a:rPr>
              <a:t>Dataset: city_day.csv  |  Tools: Python, Pandas, Seaborn, Matplotlib, SciPy  |  Python for Data Science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AQI Analysis in India</dc:title>
  <dc:subject>PptxGenJS Presentation</dc:subject>
  <dc:creator>PptxGenJS</dc:creator>
  <cp:lastModifiedBy>PptxGenJS</cp:lastModifiedBy>
  <cp:revision>1</cp:revision>
  <dcterms:created xsi:type="dcterms:W3CDTF">2026-04-05T18:01:50Z</dcterms:created>
  <dcterms:modified xsi:type="dcterms:W3CDTF">2026-04-05T18:01:50Z</dcterms:modified>
</cp:coreProperties>
</file>